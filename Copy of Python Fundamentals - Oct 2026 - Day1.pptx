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aleway"/>
      <p:regular r:id="rId41"/>
      <p:bold r:id="rId42"/>
      <p:italic r:id="rId43"/>
      <p:boldItalic r:id="rId44"/>
    </p:embeddedFont>
    <p:embeddedFont>
      <p:font typeface="Lato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aleway-bold.fntdata"/><Relationship Id="rId41" Type="http://schemas.openxmlformats.org/officeDocument/2006/relationships/font" Target="fonts/Raleway-regular.fntdata"/><Relationship Id="rId44" Type="http://schemas.openxmlformats.org/officeDocument/2006/relationships/font" Target="fonts/Raleway-boldItalic.fntdata"/><Relationship Id="rId43" Type="http://schemas.openxmlformats.org/officeDocument/2006/relationships/font" Target="fonts/Raleway-italic.fntdata"/><Relationship Id="rId46" Type="http://schemas.openxmlformats.org/officeDocument/2006/relationships/font" Target="fonts/Lato-bold.fntdata"/><Relationship Id="rId45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Lato-boldItalic.fntdata"/><Relationship Id="rId47" Type="http://schemas.openxmlformats.org/officeDocument/2006/relationships/font" Target="fonts/Lato-italic.fntdata"/><Relationship Id="rId4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1400042ead10018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1400042ead10018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h1400042ead10018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h1400042ead10018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1400042ead10018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h1400042ead10018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400042ead10018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400042ead10018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400042ead1001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400042ead1001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1400042ead10018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1400042ead10018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1400042ead10018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1400042ead10018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h1400042ead10018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h1400042ead10018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1400042ead10018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h1400042ead10018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1400042ead10018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1400042ead10018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1400042ead10018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1400042ead10018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1400042ead10018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1400042ead10018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1400042ead10018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1400042ead10018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1400042ead10018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1400042ead10018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1400042ead10018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1400042ead10018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1400042ead10018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1400042ead10018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h1400042ead10018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h1400042ead10018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1400042ead10018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h1400042ead10018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h1400042ead10018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h1400042ead10018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h1400042ead10018b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h1400042ead10018b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h1400042ead10018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h1400042ead10018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1400042ead10018b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h1400042ead10018b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h1400042ead10018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h1400042ead10018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h1400042ead10018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h1400042ead10018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h1400042ead10018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h1400042ead10018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h1400042ead10018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h1400042ead10018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1400042ead10018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h1400042ead10018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1400042ead10018b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1400042ead10018b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h1400042ead10018b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h1400042ead10018b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1400042ead10018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1400042ead10018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2837f1a935580d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h2837f1a935580d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1400042ead10018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h1400042ead10018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h1400042ead10018b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h1400042ead10018b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h1400042ead10018b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h1400042ead10018b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h1400042ead10018b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h1400042ead10018b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python.org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Immutable_object" TargetMode="External"/><Relationship Id="rId4" Type="http://schemas.openxmlformats.org/officeDocument/2006/relationships/hyperlink" Target="https://en.wikipedia.org/wiki/Immutable_object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ocs.python.org/3/library/stdtypes.html" TargetMode="External"/><Relationship Id="rId4" Type="http://schemas.openxmlformats.org/officeDocument/2006/relationships/hyperlink" Target="https://www.datacamp.com/tutorial/python-data-type-conversion" TargetMode="External"/><Relationship Id="rId5" Type="http://schemas.openxmlformats.org/officeDocument/2006/relationships/hyperlink" Target="https://carpentry.library.ucsb.edu/2020-08-19-Summer-Python/03-control-structures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Expectation</a:t>
            </a:r>
            <a:endParaRPr/>
          </a:p>
        </p:txBody>
      </p:sp>
      <p:sp>
        <p:nvSpPr>
          <p:cNvPr id="73" name="Google Shape;73;p1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Learn and use the fundamentals of Python programming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Functional programming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Object-oriented programming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Learn Python and SQL (via sqlite3)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whoami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b="1" lang="en" sz="1630"/>
              <a:t>JOHN_OLIVER_AMURAO</a:t>
            </a:r>
            <a:r>
              <a:rPr lang="en" sz="1630"/>
              <a:t> =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{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“</a:t>
            </a:r>
            <a:r>
              <a:rPr b="1" lang="en" sz="1630"/>
              <a:t>job</a:t>
            </a:r>
            <a:r>
              <a:rPr lang="en" sz="1630"/>
              <a:t>”: “[“IT Trainer”, “Technology Consultant”],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“</a:t>
            </a:r>
            <a:r>
              <a:rPr b="1" lang="en" sz="1630"/>
              <a:t>experience</a:t>
            </a:r>
            <a:r>
              <a:rPr lang="en" sz="1630"/>
              <a:t>”: 6,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“</a:t>
            </a:r>
            <a:r>
              <a:rPr b="1" lang="en" sz="1630"/>
              <a:t>platforms</a:t>
            </a:r>
            <a:r>
              <a:rPr lang="en" sz="1630"/>
              <a:t>”: [“JavaScript”, “Java”, “C#”, “Visual Basic”, “PHP”, “Python”,”Low/No Code”],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“</a:t>
            </a:r>
            <a:r>
              <a:rPr b="1" lang="en" sz="1630"/>
              <a:t>hobbies</a:t>
            </a:r>
            <a:r>
              <a:rPr lang="en" sz="1630"/>
              <a:t>”: [“programming”,”book collecting”,”retro gaming”],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" sz="1630"/>
              <a:t>“Socials”: [“linkedin.com/in/joliveramu”,”github.com/joliveramu”]</a:t>
            </a:r>
            <a:endParaRPr b="1"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}</a:t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Outline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450"/>
              <a:t>Introduction to Python and Fundamentals</a:t>
            </a:r>
            <a:endParaRPr b="1"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50"/>
              <a:t>What is Python?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History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How to install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How to run basic Python program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450"/>
              <a:t>Fundamentals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Syntax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Variables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Data types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Input/Output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Operators</a:t>
            </a:r>
            <a:endParaRPr sz="1450"/>
          </a:p>
          <a:p>
            <a:pPr indent="-32067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50"/>
              <a:buChar char="●"/>
            </a:pPr>
            <a:r>
              <a:rPr lang="en" sz="1450"/>
              <a:t>Control flow (conditional and looping)</a:t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5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Python?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Python is an interpreted, object-oriented, high-level programming language.</a:t>
            </a:r>
            <a:endParaRPr sz="2200"/>
          </a:p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Python is an easy to learn, powerful programming language.</a:t>
            </a:r>
            <a:endParaRPr sz="2200"/>
          </a:p>
          <a:p>
            <a:pPr indent="-33686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200"/>
              <a:t>Python’s elegant syntax and dynamic typing, together with its interpreted nature, make it an ideal language for scripting and rapid application development in many areas on most platforms.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Python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It was created by Guido van Rossum and released in 1991.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The name of the Python programming language comes from an old BBC television comedy sketch series called Monty Python’s Flying Circus.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Install?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200"/>
              <a:t>Download the compiler from here -&gt; </a:t>
            </a:r>
            <a:r>
              <a:rPr lang="en" sz="2200" u="sng">
                <a:solidFill>
                  <a:schemeClr val="hlink"/>
                </a:solidFill>
                <a:hlinkClick r:id="rId3"/>
              </a:rPr>
              <a:t>https://www.python.org</a:t>
            </a:r>
            <a:endParaRPr sz="2200"/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2600" y="1211353"/>
            <a:ext cx="5476875" cy="307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basic python program?</a:t>
            </a:r>
            <a:endParaRPr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run a python program, you can either do any of the following approach(es):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 your </a:t>
            </a:r>
            <a:r>
              <a:rPr b="1" i="1" lang="en"/>
              <a:t>terminal</a:t>
            </a:r>
            <a:r>
              <a:rPr lang="en"/>
              <a:t>, type </a:t>
            </a:r>
            <a:r>
              <a:rPr b="1" lang="en"/>
              <a:t>python3 </a:t>
            </a:r>
            <a:r>
              <a:rPr lang="en"/>
              <a:t>or </a:t>
            </a:r>
            <a:r>
              <a:rPr b="1" lang="en"/>
              <a:t>python</a:t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If you have a python program, in your terminal type </a:t>
            </a:r>
            <a:r>
              <a:rPr b="1" lang="en"/>
              <a:t>python3</a:t>
            </a:r>
            <a:r>
              <a:rPr lang="en"/>
              <a:t>/</a:t>
            </a:r>
            <a:r>
              <a:rPr b="1" lang="en"/>
              <a:t>python </a:t>
            </a:r>
            <a:r>
              <a:rPr b="1" i="1" lang="en"/>
              <a:t>&lt;filename.py&gt;</a:t>
            </a:r>
            <a:endParaRPr b="1" i="1"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375" y="2233613"/>
            <a:ext cx="5353050" cy="67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Syntax</a:t>
            </a:r>
            <a:endParaRPr i="1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2461925" y="1465825"/>
            <a:ext cx="6321600" cy="29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name="John"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print("Hello world!")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print(1+2)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print(3-1)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print(6*1)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print(2%1)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age=25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5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print(age)</a:t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550"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Variables</a:t>
            </a:r>
            <a:endParaRPr i="1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are containers for storing data values. A variable is created the moment you first assign a value.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/>
              <a:t>to it.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2700"/>
              <a:t>variable_name = 4 # variable_name is of type int</a:t>
            </a:r>
            <a:endParaRPr b="1" i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700"/>
              <a:t>variable_name = "Python" # variable_name is now of type str</a:t>
            </a:r>
            <a:endParaRPr b="1" i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2700"/>
              <a:t>print(variable_name)</a:t>
            </a:r>
            <a:endParaRPr b="1" i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Data Types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Type of data stored in a variable</a:t>
            </a:r>
            <a:endParaRPr sz="16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● </a:t>
            </a:r>
            <a:r>
              <a:rPr b="1" lang="en" sz="1630"/>
              <a:t>String </a:t>
            </a:r>
            <a:r>
              <a:rPr lang="en" sz="132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Ordered sequences of characters enclosed in single or double quotes.</a:t>
            </a:r>
            <a:endParaRPr sz="1320">
              <a:solidFill>
                <a:srgbClr val="05192D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(“Hello World”, “U$niverse*”) str()</a:t>
            </a:r>
            <a:endParaRPr sz="16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● </a:t>
            </a:r>
            <a:r>
              <a:rPr b="1" lang="en" sz="1630"/>
              <a:t>Integer </a:t>
            </a:r>
            <a:r>
              <a:rPr lang="en" sz="112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Whole numbers, positive or negative, without a fractional component. </a:t>
            </a:r>
            <a:r>
              <a:rPr b="1" lang="en" sz="1630"/>
              <a:t> </a:t>
            </a:r>
            <a:r>
              <a:rPr lang="en" sz="1630"/>
              <a:t>(1,5,-3,-2) int()</a:t>
            </a:r>
            <a:endParaRPr sz="16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● </a:t>
            </a:r>
            <a:r>
              <a:rPr b="1" lang="en" sz="1630"/>
              <a:t>Float </a:t>
            </a:r>
            <a:r>
              <a:rPr lang="en" sz="112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Numbers with decimal points or in exponential form. </a:t>
            </a:r>
            <a:r>
              <a:rPr lang="en" sz="1630"/>
              <a:t>(1.5,2.6, 1.67, 500.45) float()</a:t>
            </a:r>
            <a:endParaRPr sz="163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630"/>
              <a:t>● </a:t>
            </a:r>
            <a:r>
              <a:rPr b="1" lang="en" sz="1630"/>
              <a:t>Boolean</a:t>
            </a:r>
            <a:r>
              <a:rPr lang="en" sz="1630"/>
              <a:t> 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Logical values, either </a:t>
            </a:r>
            <a:r>
              <a:rPr lang="en" sz="1200">
                <a:solidFill>
                  <a:srgbClr val="05192D"/>
                </a:solidFill>
                <a:highlight>
                  <a:srgbClr val="F7F7FC"/>
                </a:highlight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200">
                <a:solidFill>
                  <a:srgbClr val="05192D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200">
                <a:solidFill>
                  <a:srgbClr val="05192D"/>
                </a:solidFill>
                <a:highlight>
                  <a:srgbClr val="F7F7FC"/>
                </a:highlight>
                <a:latin typeface="Roboto Mono"/>
                <a:ea typeface="Roboto Mono"/>
                <a:cs typeface="Roboto Mono"/>
                <a:sym typeface="Roboto Mono"/>
              </a:rPr>
              <a:t>False.</a:t>
            </a:r>
            <a:r>
              <a:rPr lang="en" sz="1630"/>
              <a:t>(True, False) bool()</a:t>
            </a:r>
            <a:endParaRPr sz="163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Data Types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● </a:t>
            </a:r>
            <a:r>
              <a:rPr b="1" lang="en"/>
              <a:t>List 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are ordered, mutable collections of items, which can hold elements of different data types.</a:t>
            </a:r>
            <a:r>
              <a:rPr lang="en"/>
              <a:t>([1,2,3,4,5]) list()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</a:t>
            </a:r>
            <a:r>
              <a:rPr b="1" lang="en"/>
              <a:t>Tuple 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often used to store fixed collections of data where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b="1" lang="en" sz="1200">
                <a:solidFill>
                  <a:srgbClr val="0075AD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immutability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important</a:t>
            </a:r>
            <a:r>
              <a:rPr lang="en"/>
              <a:t>(1,5,-3,-2) tuple()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</a:t>
            </a:r>
            <a:r>
              <a:rPr b="1" lang="en"/>
              <a:t>Dictionary 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are highly versatile and allow you to efficiently organize and retrieve data using meaningful keys rather than relying on numerical indexes.</a:t>
            </a:r>
            <a:r>
              <a:rPr lang="en"/>
              <a:t>( {'Name': 'Zara', 'Age': 7, 'Class': 'First'}) dict()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● </a:t>
            </a:r>
            <a:r>
              <a:rPr b="1" lang="en"/>
              <a:t>Sets </a:t>
            </a:r>
            <a:r>
              <a:rPr lang="en" sz="1200">
                <a:solidFill>
                  <a:srgbClr val="05192D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Unordered collections of unique elements. </a:t>
            </a:r>
            <a:r>
              <a:rPr lang="en"/>
              <a:t>({"apple", "banana", "cherry"}) sets()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Data Types</a:t>
            </a:r>
            <a:endParaRPr/>
          </a:p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TYPE CASTING</a:t>
            </a:r>
            <a:endParaRPr b="1"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process of converting the value of one data type (integer, string, float,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etc.) to another data type is called type conversion. Python has two types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of type conversion.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Implicit Type Conversion</a:t>
            </a:r>
            <a:endParaRPr b="1"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Python automatically converts one data type to another data type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Explicit Type Conversion</a:t>
            </a:r>
            <a:endParaRPr b="1"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Users convert the data type of an object to required data type int(), float(), str()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Input/Output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INPUT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● When </a:t>
            </a:r>
            <a:r>
              <a:rPr b="1" lang="en" sz="1600"/>
              <a:t>input() </a:t>
            </a:r>
            <a:r>
              <a:rPr lang="en" sz="1600"/>
              <a:t>function executes program flow will be stopped until the user has given an input.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● The text or message display on the output screen to ask a user to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enter input value is optional i.e. the prompt, will be printed on the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screen is optional.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name </a:t>
            </a:r>
            <a:r>
              <a:rPr lang="en" sz="1500">
                <a:solidFill>
                  <a:srgbClr val="0C969B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"Enter name: 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rgbClr val="403F53"/>
              </a:solidFill>
              <a:highlight>
                <a:srgbClr val="FBFBF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age </a:t>
            </a:r>
            <a:r>
              <a:rPr lang="en" sz="1500">
                <a:solidFill>
                  <a:srgbClr val="0C969B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"Enter age: 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))</a:t>
            </a:r>
            <a:endParaRPr b="1" i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Input/Output</a:t>
            </a:r>
            <a:endParaRPr/>
          </a:p>
        </p:txBody>
      </p:sp>
      <p:sp>
        <p:nvSpPr>
          <p:cNvPr id="153" name="Google Shape;153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/>
              <a:t>OUTPUT</a:t>
            </a:r>
            <a:endParaRPr b="1"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Print objects to the text stream file, separated by sep and followed by end. sep, end, file, and flush, if present, must be given as keyword arguments.</a:t>
            </a:r>
            <a:endParaRPr sz="1500"/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 non-keyword arguments are converted to strings like str() does and written to the stream, separated by sep and followed by end.</a:t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"Hello, world!"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rgbClr val="403F53"/>
              </a:solidFill>
              <a:highlight>
                <a:srgbClr val="FBFBF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"1"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"2"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,sep</a:t>
            </a:r>
            <a:r>
              <a:rPr lang="en" sz="1500">
                <a:solidFill>
                  <a:srgbClr val="0C969B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","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rgbClr val="403F53"/>
              </a:solidFill>
              <a:highlight>
                <a:srgbClr val="FBFBF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4876D6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print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"Hello, world!"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"Hola mundo!"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,end</a:t>
            </a:r>
            <a:r>
              <a:rPr lang="en" sz="1500">
                <a:solidFill>
                  <a:srgbClr val="0C969B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500">
                <a:solidFill>
                  <a:srgbClr val="C96765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"*"</a:t>
            </a:r>
            <a:r>
              <a:rPr lang="en" sz="1500">
                <a:solidFill>
                  <a:srgbClr val="403F53"/>
                </a:solidFill>
                <a:highlight>
                  <a:srgbClr val="FBFBFB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endParaRPr sz="1500">
              <a:solidFill>
                <a:srgbClr val="403F53"/>
              </a:solidFill>
              <a:highlight>
                <a:srgbClr val="FBFBFB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Operators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Operators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9975"/>
            <a:ext cx="8520599" cy="338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Operators</a:t>
            </a:r>
            <a:endParaRPr/>
          </a:p>
        </p:txBody>
      </p:sp>
      <p:sp>
        <p:nvSpPr>
          <p:cNvPr id="173" name="Google Shape;173;p2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 - </a:t>
            </a:r>
            <a:r>
              <a:rPr i="1" lang="en"/>
              <a:t>Operators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925" y="1152475"/>
            <a:ext cx="852060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</a:t>
            </a:r>
            <a:endParaRPr/>
          </a:p>
        </p:txBody>
      </p:sp>
      <p:sp>
        <p:nvSpPr>
          <p:cNvPr id="187" name="Google Shape;187;p3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CONTROL STRUCTURES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Statements in a program are executed sequentially, from the first statement to the last statement.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Control structures provide a means for some statements to be skipped or by-passed during execution, depending on the result of a condition(s).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Conditionals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Selection (or Decision Control) Structure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Provides a choice between two alternatives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 components of the structure: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condition to be tested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statement to be performed if the condition is satisfied (process A)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The statement to be performed if the condition is not satisfied (process B)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Conditionals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152475"/>
            <a:ext cx="7142125" cy="400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Conditionals</a:t>
            </a:r>
            <a:endParaRPr/>
          </a:p>
        </p:txBody>
      </p:sp>
      <p:sp>
        <p:nvSpPr>
          <p:cNvPr id="206" name="Google Shape;206;p3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90849"/>
            <a:ext cx="6135950" cy="395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500"/>
              <a:t>Control Flow/Structures - Conditionals</a:t>
            </a:r>
            <a:endParaRPr sz="2500"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98075"/>
            <a:ext cx="829911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Conditionals</a:t>
            </a:r>
            <a:endParaRPr/>
          </a:p>
        </p:txBody>
      </p:sp>
      <p:sp>
        <p:nvSpPr>
          <p:cNvPr id="220" name="Google Shape;220;p3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BUILT-IN METHODS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isupper() - Returns True if all characters in the string are upper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islower() - Returns True if all characters in the string are lower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isdigit() - Returns True if all characters in the string are digits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isalpha() - Returns True if all characters in the string are in the alphabet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Conditionals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940401" cy="391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781800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</p:txBody>
      </p:sp>
      <p:sp>
        <p:nvSpPr>
          <p:cNvPr id="240" name="Google Shape;240;p3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64579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6667500" cy="32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733425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63"/>
            <a:ext cx="5238750" cy="359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A0A0A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The</a:t>
            </a:r>
            <a:r>
              <a:rPr b="1"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in</a:t>
            </a:r>
            <a:r>
              <a:rPr b="1"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keyword serves two primary purposes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 it acts as a </a:t>
            </a:r>
            <a:r>
              <a:rPr b="1"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membership operator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to check if a value exists within a collection, and it acts as an </a:t>
            </a:r>
            <a:r>
              <a:rPr b="1"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iterator separator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within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loops.</a:t>
            </a:r>
            <a:endParaRPr sz="1400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When used in expressions (commonly inside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statements),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checks if a specific element is present inside an iterable sequence (like a string, list, tuple, set, or dictionary). It evaluates to either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True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False</a:t>
            </a:r>
            <a:endParaRPr sz="1400">
              <a:solidFill>
                <a:srgbClr val="188038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When used in a loop, </a:t>
            </a:r>
            <a:r>
              <a:rPr lang="en" sz="1400">
                <a:solidFill>
                  <a:srgbClr val="188038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" sz="14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separates the loop variable from the iterable collection you want to step through</a:t>
            </a:r>
            <a:endParaRPr sz="1400">
              <a:solidFill>
                <a:srgbClr val="188038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76275"/>
            <a:ext cx="7381875" cy="400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2" name="Google Shape;28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6677025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Flow/Structures - Looping</a:t>
            </a:r>
            <a:endParaRPr/>
          </a:p>
        </p:txBody>
      </p:sp>
      <p:sp>
        <p:nvSpPr>
          <p:cNvPr id="288" name="Google Shape;288;p4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572250" cy="398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https://docs.python.org/3/library/stdtypes.html</a:t>
            </a:r>
            <a:r>
              <a:rPr lang="en"/>
              <a:t> - Built-in 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https://www.datacamp.com/tutorial/python-data-type-conversion</a:t>
            </a:r>
            <a:r>
              <a:rPr lang="en"/>
              <a:t> - Python Data Type Conversion: A Guide With Examples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https://carpentry.library.ucsb.edu/2020-08-19-Summer-Python/03-control-structures/index.html</a:t>
            </a:r>
            <a:r>
              <a:rPr lang="en"/>
              <a:t> - Python control structures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